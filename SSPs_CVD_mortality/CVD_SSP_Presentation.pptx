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Cardiovascular Mortality Under the Shared Socioeconomic Pathways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slide-by-slide outline — paste into PowerPoint / Google Slides / Keynote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Cardiovascular Mortality Futures Under the Shared Socioeconomic Pathways</a:t>
            </a:r>
            <a:r>
              <a:rPr/>
              <a:t> Projecting CVD deaths, mortality rates, and life expectancy loss through 2100, across five SSP scenarios</a:t>
            </a:r>
          </a:p>
          <a:p>
            <a:pPr lvl="0" indent="0" marL="0">
              <a:buNone/>
            </a:pPr>
            <a:r>
              <a:rPr i="1"/>
              <a:t>Speaker notes: set expectations — this talk has two halves: (1) the SSP / Healthy SSPs framework this work sits inside, and (2) our own quantitative CVD projections built on top of it.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are the Shared Socioeconomic Pathways (SSPs)?</a:t>
            </a:r>
          </a:p>
          <a:p>
            <a:pPr lvl="0"/>
            <a:r>
              <a:rPr/>
              <a:t>Extending SSPs to health: the “Healthy SSPs” narratives</a:t>
            </a:r>
          </a:p>
          <a:p>
            <a:pPr lvl="0"/>
            <a:r>
              <a:rPr/>
              <a:t>From narrative to numbers: this project’s CVD projections</a:t>
            </a:r>
          </a:p>
          <a:p>
            <a:pPr lvl="0"/>
            <a:r>
              <a:rPr/>
              <a:t>Global trends by SSP (2025–2100)</a:t>
            </a:r>
          </a:p>
          <a:p>
            <a:pPr lvl="0"/>
            <a:r>
              <a:rPr/>
              <a:t>Regional patterns (two different ways of grouping countries)</a:t>
            </a:r>
          </a:p>
          <a:p>
            <a:pPr lvl="0"/>
            <a:r>
              <a:rPr/>
              <a:t>Life expectancy lost to CVD</a:t>
            </a:r>
          </a:p>
          <a:p>
            <a:pPr lvl="0"/>
            <a:r>
              <a:rPr/>
              <a:t>Does our quantitative picture match the qualitative Healthy SSPs story?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What Are SSPs?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Shared Socioeconomic Pathways</a:t>
            </a:r>
            <a:r>
              <a:rPr/>
              <a:t>: five scenario narratives of how global society, demographics, and economics could evolve through 2100</a:t>
            </a:r>
          </a:p>
          <a:p>
            <a:pPr lvl="0"/>
            <a:r>
              <a:rPr/>
              <a:t>Developed by the climate-research community (O’Neill et al. 2017) to pair with climate forcings (RCPs) for integrated climate-impact assessment</a:t>
            </a:r>
          </a:p>
          <a:p>
            <a:pPr lvl="0"/>
            <a:r>
              <a:rPr/>
              <a:t>Each SSP is a </a:t>
            </a:r>
            <a:r>
              <a:rPr i="1"/>
              <a:t>qualitative narrative</a:t>
            </a:r>
            <a:r>
              <a:rPr/>
              <a:t> first, translated into </a:t>
            </a:r>
            <a:r>
              <a:rPr i="1"/>
              <a:t>quantified indicators</a:t>
            </a:r>
            <a:r>
              <a:rPr/>
              <a:t> (population, GDP, education, urbanization, etc.) second</a:t>
            </a:r>
          </a:p>
          <a:p>
            <a:pPr lvl="0"/>
            <a:r>
              <a:rPr/>
              <a:t>Maintained largely through IIASA’s Wittgenstein Centre (population/human-capital projections)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The Five SSP Narratives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idea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Sustainability — “Taking the Green Road”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population growth, high education, rapid convergence, strong institutions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Middle of the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Continuation of current trends, no major shifts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Regional Rivalry — “A Rocky Road”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Fragmented world, slow development, nationalism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Inequality — “A Road Divided”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Sharp gaps between a connected elite and everyone else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Fossil-Fueled Development — “Taking the Highway”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Rapid growth, high emissions, technology-driven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The Gap: Health Was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Standard SSPs quantify GDP, population, education, urbanization — </a:t>
            </a:r>
            <a:r>
              <a:rPr b="1"/>
              <a:t>not health drivers</a:t>
            </a:r>
          </a:p>
          <a:p>
            <a:pPr lvl="0"/>
            <a:r>
              <a:rPr/>
              <a:t>Result: fragmented climate–health modeling, hard to interpret across studies</a:t>
            </a:r>
          </a:p>
          <a:p>
            <a:pPr lvl="0"/>
            <a:r>
              <a:rPr/>
              <a:t>Most health-impact projections use static exposure–response relationships and ignore how </a:t>
            </a:r>
            <a:r>
              <a:rPr i="1"/>
              <a:t>societal</a:t>
            </a:r>
            <a:r>
              <a:rPr/>
              <a:t> change shapes vulnerability</a:t>
            </a:r>
          </a:p>
          <a:p>
            <a:pPr lvl="0"/>
            <a:r>
              <a:rPr b="1"/>
              <a:t>Healthy SSPs</a:t>
            </a:r>
            <a:r>
              <a:rPr/>
              <a:t> (Green, Andrijevic, Hess, Pachauri, Sellers, van Ruijven, et al., 2025, SSRN preprint) closes this gap with formal health narratives for each SSP</a:t>
            </a:r>
          </a:p>
          <a:p>
            <a:pPr lvl="0" indent="0" marL="0">
              <a:buNone/>
            </a:pPr>
            <a:r>
              <a:rPr i="1"/>
              <a:t>Speaker notes: this is the paper your colleagues published — credit it explicitly here.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The Healthy SSPs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Built from a June 2025 workshop: 63 experts, 24 countries, all 6 continents</a:t>
            </a:r>
          </a:p>
          <a:p>
            <a:pPr lvl="0"/>
            <a:r>
              <a:rPr/>
              <a:t>Two driver categories, each shaping population health outcomes and health-system resilience:</a:t>
            </a:r>
          </a:p>
          <a:p>
            <a:pPr lvl="1"/>
            <a:r>
              <a:rPr b="1"/>
              <a:t>Socioeconomic &amp; Demographic Drivers</a:t>
            </a:r>
            <a:r>
              <a:rPr/>
              <a:t> — demographics, inequality, built environment, technology, basic needs</a:t>
            </a:r>
          </a:p>
          <a:p>
            <a:pPr lvl="1"/>
            <a:r>
              <a:rPr b="1"/>
              <a:t>Population Health &amp; Health System Drivers</a:t>
            </a:r>
            <a:r>
              <a:rPr/>
              <a:t> — leadership/governance, infrastructure/supply chains, information systems/service delivery, institutional commitments/financing</a:t>
            </a:r>
          </a:p>
          <a:p>
            <a:pPr lvl="0"/>
            <a:r>
              <a:rPr/>
              <a:t>Grounded in the Social Determinants of Health framework and WHO’s climate-resilient health systems framework</a:t>
            </a:r>
          </a:p>
          <a:p>
            <a:pPr lvl="0"/>
            <a:r>
              <a:rPr/>
              <a:t>Builds on earlier work by Sellers &amp; Ebi (2018)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Five Health Narratives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 narrative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One-line 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 Healthy 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Universal coverage, strong prevention, equitable tech transfer, longer healthy lifespans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Meandering Roads Towards 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Gradual, uneven progress; rural/marginalized populations lag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Regional Roads and Rocky 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 institutions, fragmented cooperation, persistent/worsening inequality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Healthy Road for the Wealthy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 care for a connected elite; systemic neglect elsewhere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Taking the Health Technology Highway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Tech-driven gains, but benefits skew to high-income countries; mental health burden rises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The Pattern: Who Prioritizes Health?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SSP1 &amp; SSP5</a:t>
            </a:r>
            <a:r>
              <a:rPr/>
              <a:t> → high investment, strong governance → best population health outcomes</a:t>
            </a:r>
          </a:p>
          <a:p>
            <a:pPr lvl="0"/>
            <a:r>
              <a:rPr b="1"/>
              <a:t>SSP3 &amp; SSP4</a:t>
            </a:r>
            <a:r>
              <a:rPr/>
              <a:t> → weak institutions / entrenched inequality → worst outcomes</a:t>
            </a:r>
          </a:p>
          <a:p>
            <a:pPr lvl="0"/>
            <a:r>
              <a:rPr b="1"/>
              <a:t>SSP2</a:t>
            </a:r>
            <a:r>
              <a:rPr/>
              <a:t> → follows historical trends → slow, uneven improvement</a:t>
            </a:r>
          </a:p>
          <a:p>
            <a:pPr lvl="0"/>
            <a:r>
              <a:rPr/>
              <a:t>This is a </a:t>
            </a:r>
            <a:r>
              <a:rPr i="1"/>
              <a:t>qualitative</a:t>
            </a:r>
            <a:r>
              <a:rPr/>
              <a:t> finding from the narrative workshop — the next question: </a:t>
            </a:r>
            <a:r>
              <a:rPr b="1"/>
              <a:t>does it show up in actual disease-specific mortality projections?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From Narrative to Numbers: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Healthy SSPs paper is explicitly a narrative foundation — it calls for future work to </a:t>
            </a:r>
            <a:r>
              <a:rPr b="1"/>
              <a:t>quantify</a:t>
            </a:r>
            <a:r>
              <a:rPr/>
              <a:t> health drivers under each SSP</a:t>
            </a:r>
          </a:p>
          <a:p>
            <a:pPr lvl="0"/>
            <a:r>
              <a:rPr/>
              <a:t>This project is one such quantification, focused on a single, high-burden outcome: </a:t>
            </a:r>
            <a:r>
              <a:rPr b="1"/>
              <a:t>cardiovascular disease (CVD) mortality</a:t>
            </a:r>
          </a:p>
          <a:p>
            <a:pPr lvl="0"/>
            <a:r>
              <a:rPr/>
              <a:t>Combines SSP-consistent demographic projections (population, aging) with CVD/all-cause death modeling, by country, age, and sex, out to 2100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Data &amp;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Observed CVD + all-cause deaths (historical, 1990–2023) combined with modeled projections (2025–2100) for all 5 SSPs</a:t>
            </a:r>
          </a:p>
          <a:p>
            <a:pPr lvl="0"/>
            <a:r>
              <a:rPr/>
              <a:t>188 countries, 20 five-year age bands, both sexes</a:t>
            </a:r>
          </a:p>
          <a:p>
            <a:pPr lvl="0"/>
            <a:r>
              <a:rPr/>
              <a:t>Three analytical layers built this session:</a:t>
            </a:r>
          </a:p>
          <a:p>
            <a:pPr lvl="1" indent="-342900" marL="685800">
              <a:buAutoNum type="arabicPeriod"/>
            </a:pPr>
            <a:r>
              <a:rPr b="1"/>
              <a:t>Global trends</a:t>
            </a:r>
            <a:r>
              <a:rPr/>
              <a:t> — CVD share, death counts, age-standardized mortality rate (ASMR), by SSP</a:t>
            </a:r>
          </a:p>
          <a:p>
            <a:pPr lvl="1" indent="-342900" marL="685800">
              <a:buAutoNum type="arabicPeriod"/>
            </a:pPr>
            <a:r>
              <a:rPr b="1"/>
              <a:t>Regional comparisons</a:t>
            </a:r>
            <a:r>
              <a:rPr/>
              <a:t> — two different regional classification schemes</a:t>
            </a:r>
          </a:p>
          <a:p>
            <a:pPr lvl="1" indent="-342900" marL="685800">
              <a:buAutoNum type="arabicPeriod"/>
            </a:pPr>
            <a:r>
              <a:rPr b="1"/>
              <a:t>Life expectancy lost to CVD</a:t>
            </a:r>
            <a:r>
              <a:rPr/>
              <a:t> — Chiang’s cause-deleted life table method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Global Trend: CVD Share of All Deaths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2030: SSPs are close together (~30–32% of all deaths are CVD) — scenarios haven’t diverged much yet</a:t>
            </a:r>
          </a:p>
          <a:p>
            <a:pPr lvl="0"/>
            <a:r>
              <a:rPr/>
              <a:t>2100: spread widens — </a:t>
            </a:r>
            <a:r>
              <a:rPr b="1"/>
              <a:t>SSP3 highest (17.9%)</a:t>
            </a:r>
            <a:r>
              <a:rPr/>
              <a:t>, </a:t>
            </a:r>
            <a:r>
              <a:rPr b="1"/>
              <a:t>SSP5 lowest (13.5%)</a:t>
            </a:r>
          </a:p>
          <a:p>
            <a:pPr lvl="0"/>
            <a:r>
              <a:rPr i="1"/>
              <a:t>(insert </a:t>
            </a:r>
            <a:r>
              <a:rPr i="1">
                <a:latin typeface="Courier"/>
              </a:rPr>
              <a:t>Results/Plots/Global/fig_global_ssp_deaths.png</a:t>
            </a:r>
            <a:r>
              <a:rPr i="1"/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Global Trend: Number of CVD Deaths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Absolute CVD deaths rise for most SSPs through mid-century before falling as population aging plateaus and the SSP’s health/education gains kick in</a:t>
            </a:r>
          </a:p>
          <a:p>
            <a:pPr lvl="0"/>
            <a:r>
              <a:rPr/>
              <a:t>By 2100: </a:t>
            </a:r>
            <a:r>
              <a:rPr b="1"/>
              <a:t>SSP3 ≈ 26.0M deaths/year</a:t>
            </a:r>
            <a:r>
              <a:rPr/>
              <a:t> vs </a:t>
            </a:r>
            <a:r>
              <a:rPr b="1"/>
              <a:t>SSP5 ≈ 11.5M</a:t>
            </a:r>
            <a:r>
              <a:rPr/>
              <a:t> — more than double</a:t>
            </a:r>
          </a:p>
          <a:p>
            <a:pPr lvl="0"/>
            <a:r>
              <a:rPr/>
              <a:t>Population growth </a:t>
            </a:r>
            <a:r>
              <a:rPr i="1"/>
              <a:t>and</a:t>
            </a:r>
            <a:r>
              <a:rPr/>
              <a:t> mortality risk both matter — SSP3’s higher population size compounds its higher CVD risk</a:t>
            </a:r>
          </a:p>
          <a:p>
            <a:pPr lvl="0"/>
            <a:r>
              <a:rPr i="1"/>
              <a:t>(insert </a:t>
            </a:r>
            <a:r>
              <a:rPr i="1">
                <a:latin typeface="Courier"/>
              </a:rPr>
              <a:t>Results/Plots/Global/fig_global_cvd_deaths.png</a:t>
            </a:r>
            <a:r>
              <a:rPr i="1"/>
              <a:t>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 — Global Trend: Age-Standardized Mortality Rate (ASMR)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Removes population-size/age-structure effects — isolates the pure risk signal</a:t>
            </a:r>
          </a:p>
          <a:p>
            <a:pPr lvl="0"/>
            <a:r>
              <a:rPr/>
              <a:t>2030: all SSPs start close (~195–229 per 100,000)</a:t>
            </a:r>
          </a:p>
          <a:p>
            <a:pPr lvl="0"/>
            <a:r>
              <a:rPr/>
              <a:t>2100: </a:t>
            </a:r>
            <a:r>
              <a:rPr b="1"/>
              <a:t>SSP3 ≈ 97 per 100,000</a:t>
            </a:r>
            <a:r>
              <a:rPr/>
              <a:t> vs </a:t>
            </a:r>
            <a:r>
              <a:rPr b="1"/>
              <a:t>SSP1/SSP5 ≈ 11–12 per 100,000</a:t>
            </a:r>
            <a:r>
              <a:rPr/>
              <a:t> — roughly an 8-fold gap</a:t>
            </a:r>
          </a:p>
          <a:p>
            <a:pPr lvl="0"/>
            <a:r>
              <a:rPr i="1"/>
              <a:t>(insert </a:t>
            </a:r>
            <a:r>
              <a:rPr i="1">
                <a:latin typeface="Courier"/>
              </a:rPr>
              <a:t>Results/Plots/Global/fig_global_asmr.png</a:t>
            </a:r>
            <a:r>
              <a:rPr i="1"/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 — Premature CVD Mortality (Ages 0–69)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Restricting the standard population to ages 0–69 isolates deaths before old age — the WHO-style “premature NCD mortality” lens</a:t>
            </a:r>
          </a:p>
          <a:p>
            <a:pPr lvl="0"/>
            <a:r>
              <a:rPr/>
              <a:t>2030: SSP3 highest (88.4), SSP5 lowest (70.7) per 100,000</a:t>
            </a:r>
          </a:p>
          <a:p>
            <a:pPr lvl="0"/>
            <a:r>
              <a:rPr/>
              <a:t>2100: </a:t>
            </a:r>
            <a:r>
              <a:rPr b="1"/>
              <a:t>SSP3 ≈ 42.7</a:t>
            </a:r>
            <a:r>
              <a:rPr/>
              <a:t> vs </a:t>
            </a:r>
            <a:r>
              <a:rPr b="1"/>
              <a:t>SSP1/SSP5 ≈ 1.7–2.1</a:t>
            </a:r>
            <a:r>
              <a:rPr/>
              <a:t> — the gap widens even further than the full-population ASMR</a:t>
            </a:r>
          </a:p>
          <a:p>
            <a:pPr lvl="0"/>
            <a:r>
              <a:rPr i="1"/>
              <a:t>(insert </a:t>
            </a:r>
            <a:r>
              <a:rPr i="1">
                <a:latin typeface="Courier"/>
              </a:rPr>
              <a:t>Results/Plots/Global/fig_global_asmr_premature.png</a:t>
            </a:r>
            <a:r>
              <a:rPr i="1"/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 — Regional Lens: Two Ways to Slice the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Sellers (2020) regions</a:t>
            </a:r>
            <a:r>
              <a:rPr/>
              <a:t>: 6 geographic regions + a separate “High-Income” bucket (pulls wealthy countries out of their geography)</a:t>
            </a:r>
          </a:p>
          <a:p>
            <a:pPr lvl="0"/>
            <a:r>
              <a:rPr b="1"/>
              <a:t>World Bank regions</a:t>
            </a:r>
            <a:r>
              <a:rPr/>
              <a:t>: 7 traditional geographic regions (including North America), income-agnostic</a:t>
            </a:r>
          </a:p>
          <a:p>
            <a:pPr lvl="0"/>
            <a:r>
              <a:rPr/>
              <a:t>Why it matters: whether “high-income” countries get grouped by geography or pulled into their own bucket changes what each region’s CVD burden looks like</a:t>
            </a:r>
          </a:p>
          <a:p>
            <a:pPr lvl="0"/>
            <a:r>
              <a:rPr i="1"/>
              <a:t>(insert side-by-side from </a:t>
            </a:r>
            <a:r>
              <a:rPr i="1">
                <a:latin typeface="Courier"/>
              </a:rPr>
              <a:t>Results/Plots/RegionalSummaries/Sellers/</a:t>
            </a:r>
            <a:r>
              <a:rPr i="1"/>
              <a:t> and </a:t>
            </a:r>
            <a:r>
              <a:rPr i="1">
                <a:latin typeface="Courier"/>
              </a:rPr>
              <a:t>.../WorldBank/</a:t>
            </a:r>
            <a:r>
              <a:rPr i="1"/>
              <a:t>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 — Regional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Middle East &amp; North Africa and Europe &amp; Central Asia show the highest CVD shares across SSPs</a:t>
            </a:r>
          </a:p>
          <a:p>
            <a:pPr lvl="0"/>
            <a:r>
              <a:rPr/>
              <a:t>Sub-Saharan Africa consistently lowest — reflects a younger population structure, not necessarily lower underlying risk</a:t>
            </a:r>
          </a:p>
          <a:p>
            <a:pPr lvl="0"/>
            <a:r>
              <a:rPr/>
              <a:t>Regional SSP ordering (SSP3 worst, SSP5 best) holds within nearly every region — the global pattern isn’t driven by one region alone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 — Life Expectancy Lost to CVD: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Chiang’s method — standard multiple-decrement (“cause-deleted”) life table</a:t>
            </a:r>
          </a:p>
          <a:p>
            <a:pPr lvl="0"/>
            <a:r>
              <a:rPr/>
              <a:t>Built twice per country/SSP/year: once with all causes of death, once with CVD’s share removed</a:t>
            </a:r>
          </a:p>
          <a:p>
            <a:pPr lvl="0"/>
            <a:r>
              <a:rPr/>
              <a:t>The gap between the two life expectancies = years of life expectancy CVD “costs” that population</a:t>
            </a:r>
          </a:p>
          <a:p>
            <a:pPr lvl="0"/>
            <a:r>
              <a:rPr/>
              <a:t>Restricted to the native 5-year projection grid (2025–2100)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 — Life Expectancy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2030: SSPs nearly identical — </a:t>
            </a:r>
            <a:r>
              <a:rPr b="1"/>
              <a:t>~4.3–4.5 years</a:t>
            </a:r>
            <a:r>
              <a:rPr/>
              <a:t> lost to CVD, globally</a:t>
            </a:r>
          </a:p>
          <a:p>
            <a:pPr lvl="0"/>
            <a:r>
              <a:rPr/>
              <a:t>2100: </a:t>
            </a:r>
            <a:r>
              <a:rPr b="1"/>
              <a:t>SSP3 ≈ 2.4 years</a:t>
            </a:r>
            <a:r>
              <a:rPr/>
              <a:t> vs </a:t>
            </a:r>
            <a:r>
              <a:rPr b="1"/>
              <a:t>SSP1/SSP5 ≈ 1.5–1.6 years</a:t>
            </a:r>
          </a:p>
          <a:p>
            <a:pPr lvl="0"/>
            <a:r>
              <a:rPr/>
              <a:t>Every SSP shows CVD’s toll shrinking over the century — but SSP3 shrinks the least</a:t>
            </a:r>
          </a:p>
          <a:p>
            <a:pPr lvl="0"/>
            <a:r>
              <a:rPr/>
              <a:t>Per-country plots available for all 188 countries (</a:t>
            </a:r>
            <a:r>
              <a:rPr>
                <a:latin typeface="Courier"/>
              </a:rPr>
              <a:t>Results/LifeExpectancy/country_plots/</a:t>
            </a:r>
            <a:r>
              <a:rPr/>
              <a:t>)</a:t>
            </a:r>
          </a:p>
          <a:p>
            <a:pPr lvl="0"/>
            <a:r>
              <a:rPr i="1"/>
              <a:t>(insert </a:t>
            </a:r>
            <a:r>
              <a:rPr i="1">
                <a:latin typeface="Courier"/>
              </a:rPr>
              <a:t>Results/Plots/... fig2_gap_by_ssp_over_time.png</a:t>
            </a:r>
            <a:r>
              <a:rPr i="1"/>
              <a:t>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 — Connecting Back to the Healthy SSPs Narrative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Healthy SSPs narrative (qualitative)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CVD projections (quantitative)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SSP1 &amp; SSP5: high investment, best outcomes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Lowest CVD share, deaths, ASMR, and life-expectancy loss by 2100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SSP3 &amp; SSP4: weak institutions, worst outcomes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Highest CVD burden across every metric by 2100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SSP2: slow, uneven, historical-trend progress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Sits consistently in the middle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disease-specific numbers reproduce the qualitative story almost exactly</a:t>
            </a:r>
            <a:r>
              <a:rPr/>
              <a:t> — a concrete validation of the Healthy SSPs framework using one real, high-burden cause of death.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SSP scenarios barely differ in the near term (2030) — divergence is a </a:t>
            </a:r>
            <a:r>
              <a:rPr i="1"/>
              <a:t>long-horizon</a:t>
            </a:r>
            <a:r>
              <a:rPr/>
              <a:t> phenomenon</a:t>
            </a:r>
          </a:p>
          <a:p>
            <a:pPr lvl="0"/>
            <a:r>
              <a:rPr/>
              <a:t>By 2100, the CVD burden gap between the best (SSP1/SSP5) and worst (SSP3) scenario is roughly </a:t>
            </a:r>
            <a:r>
              <a:rPr b="1"/>
              <a:t>8-fold</a:t>
            </a:r>
            <a:r>
              <a:rPr/>
              <a:t> in age-standardized terms</a:t>
            </a:r>
          </a:p>
          <a:p>
            <a:pPr lvl="0"/>
            <a:r>
              <a:rPr/>
              <a:t>The gap is even wider for </a:t>
            </a:r>
            <a:r>
              <a:rPr i="1"/>
              <a:t>premature</a:t>
            </a:r>
            <a:r>
              <a:rPr/>
              <a:t> mortality than for all-age mortality</a:t>
            </a:r>
          </a:p>
          <a:p>
            <a:pPr lvl="0"/>
            <a:r>
              <a:rPr/>
              <a:t>Regional classification choice changes the picture of </a:t>
            </a:r>
            <a:r>
              <a:rPr i="1"/>
              <a:t>where</a:t>
            </a:r>
            <a:r>
              <a:rPr/>
              <a:t> burden concentrates, but not the SSP ordering</a:t>
            </a:r>
          </a:p>
          <a:p>
            <a:pPr lvl="0"/>
            <a:r>
              <a:rPr/>
              <a:t>Quantifying a single disease under the Healthy SSPs framework validates its core qualitative claims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 — 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CVD is one cause among many the Healthy SSPs framework could be applied to — results shouldn’t be read as “SSP3 is worse for all health outcomes” without further quantification</a:t>
            </a:r>
          </a:p>
          <a:p>
            <a:pPr lvl="0"/>
            <a:r>
              <a:rPr/>
              <a:t>Historical data has known sparse-population artifacts in the oldest age bands for a handful of small countries — doesn’t affect the projected panel</a:t>
            </a:r>
          </a:p>
          <a:p>
            <a:pPr lvl="0"/>
            <a:r>
              <a:rPr/>
              <a:t>Next steps: extend to other NCDs, incorporate regional downscaling of health narratives (as called for in the Healthy SSPs paper), formally quantify governance/health-system drivers rather than relying on demographic projections alone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22 —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  <a:p>
            <a:pPr lvl="0" indent="0" marL="0">
              <a:buNone/>
            </a:pPr>
            <a:r>
              <a:rPr i="1"/>
              <a:t>Reference: Green C, Andrijevic M, Hess JJ, Pachauri S, Sellers S, van Ruijven B, et al. Navigating Global Health Futures Under the Shared Socioeconomic Pathways. SSRN preprint, 2025.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2026-08-14T12:43:41Z</dcterms:created>
  <dcterms:modified xsi:type="dcterms:W3CDTF">2026-08-14T12:43:41Z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